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a1f9ea641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a1f9ea641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a1f9ea64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a1f9ea64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dff391d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dff391d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a1f9ea6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a1f9ea6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dff391df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dff391df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dff391df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dff391df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dff391df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dff391df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dff391df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dff391df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dff391df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dff391df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dff391df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dff391df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dff391df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dff391df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dff391df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dff391df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dff391df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dff391df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dff391df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dff391df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dff391df6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dff391df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dff391df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dff391df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dff391df6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dff391df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7950" y="124792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Autoregressive Language Models  (CALM)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3850025"/>
            <a:ext cx="7898700" cy="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900"/>
              <a:t>Authors: Chenze Shao, Darren Li, Fandong Meng, Jie Zhou</a:t>
            </a:r>
            <a:endParaRPr sz="19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000"/>
          </a:p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65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Limitation of Current Transformer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90500" y="4761175"/>
            <a:ext cx="638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16075" y="1369000"/>
            <a:ext cx="8116800" cy="34344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-38989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Token-by-token generation</a:t>
            </a:r>
            <a:endParaRPr sz="25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</a:t>
            </a:r>
            <a:r>
              <a:rPr lang="en" sz="1840"/>
              <a:t>Sequential bottleneck: slow inference</a:t>
            </a:r>
            <a:endParaRPr sz="1840"/>
          </a:p>
          <a:p>
            <a:pPr indent="-38989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Existing Solutions</a:t>
            </a:r>
            <a:endParaRPr sz="25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</a:t>
            </a:r>
            <a:r>
              <a:rPr lang="en" sz="1840"/>
              <a:t>Non-autoregressive LM:  the multimodality problem</a:t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Multi-token prediction: multiple output layers</a:t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40"/>
              <a:t>- Diffusion LM: long “diffusion” steps</a:t>
            </a:r>
            <a:endParaRPr sz="184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</a:t>
            </a:r>
            <a:endParaRPr/>
          </a:p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716075" y="1369000"/>
            <a:ext cx="8116800" cy="34344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-4216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40"/>
              <a:buChar char="●"/>
            </a:pPr>
            <a:r>
              <a:rPr lang="en" sz="3040"/>
              <a:t>Replace “tokens” by “vector”:</a:t>
            </a:r>
            <a:endParaRPr sz="30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40"/>
              <a:t>-  </a:t>
            </a:r>
            <a:r>
              <a:rPr lang="en" sz="2340"/>
              <a:t>token → chunk → vector</a:t>
            </a:r>
            <a:endParaRPr sz="23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40"/>
              <a:t>-  </a:t>
            </a:r>
            <a:r>
              <a:rPr lang="en" sz="2340"/>
              <a:t>fewer generation steps</a:t>
            </a:r>
            <a:endParaRPr sz="23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40"/>
              <a:t>-  “vectors” shall be continuous!</a:t>
            </a:r>
            <a:endParaRPr sz="234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Tokens to Vectors</a:t>
            </a:r>
            <a:endParaRPr/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16075" y="1369000"/>
            <a:ext cx="8116800" cy="34344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-38989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K tokens → 1 vector</a:t>
            </a:r>
            <a:endParaRPr sz="2540"/>
          </a:p>
          <a:p>
            <a:pPr indent="-38989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sequence length ↓ to 1/K</a:t>
            </a:r>
            <a:endParaRPr sz="25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40"/>
          </a:p>
        </p:txBody>
      </p:sp>
      <p:pic>
        <p:nvPicPr>
          <p:cNvPr id="111" name="Google Shape;111;p16" title="Screen Shot 2026-04-08 at 01.35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700" y="2609950"/>
            <a:ext cx="7567552" cy="22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7650" y="551441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Architecture</a:t>
            </a:r>
            <a:endParaRPr/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2790500" y="4761175"/>
            <a:ext cx="638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006150" y="1203195"/>
            <a:ext cx="68361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Training Components: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────────────────────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b="1" lang="en"/>
              <a:t>AutoEncoder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→ Encoder → z → Decoder → x̂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b="1" lang="en"/>
              <a:t>Transformer</a:t>
            </a:r>
            <a:r>
              <a:rPr lang="en"/>
              <a:t>: handles context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Transformer(z, h</a:t>
            </a:r>
            <a:r>
              <a:rPr baseline="-25000" lang="en"/>
              <a:t>i-1</a:t>
            </a:r>
            <a:r>
              <a:rPr lang="en"/>
              <a:t>) = h</a:t>
            </a:r>
            <a:r>
              <a:rPr baseline="-25000" lang="en"/>
              <a:t>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b="1" lang="en"/>
              <a:t>Generative Head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predict the next vector</a:t>
            </a:r>
            <a:r>
              <a:rPr lang="en"/>
              <a:t>: </a:t>
            </a:r>
            <a:r>
              <a:rPr lang="en"/>
              <a:t>p(z</a:t>
            </a:r>
            <a:r>
              <a:rPr baseline="-25000" lang="en"/>
              <a:t>i</a:t>
            </a:r>
            <a:r>
              <a:rPr lang="en"/>
              <a:t> | h</a:t>
            </a:r>
            <a:r>
              <a:rPr baseline="-25000" lang="en" sz="1600"/>
              <a:t>i-1</a:t>
            </a:r>
            <a:r>
              <a:rPr lang="en"/>
              <a:t>) → q(z</a:t>
            </a:r>
            <a:r>
              <a:rPr baseline="-25000" lang="en"/>
              <a:t>i</a:t>
            </a:r>
            <a:r>
              <a:rPr lang="en"/>
              <a:t> | 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stochastic via noise 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Workflow: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──────────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baseline="-25000" lang="en"/>
              <a:t>i-2</a:t>
            </a:r>
            <a:r>
              <a:rPr lang="en"/>
              <a:t> → Transformer</a:t>
            </a:r>
            <a:r>
              <a:rPr lang="en"/>
              <a:t> </a:t>
            </a:r>
            <a:r>
              <a:rPr lang="en"/>
              <a:t>→ h</a:t>
            </a:r>
            <a:r>
              <a:rPr baseline="-25000" lang="en"/>
              <a:t>i-1 </a:t>
            </a:r>
            <a:r>
              <a:rPr lang="en"/>
              <a:t>→ Generative Head → z</a:t>
            </a:r>
            <a:r>
              <a:rPr baseline="-25000" lang="en"/>
              <a:t>i  </a:t>
            </a:r>
            <a:r>
              <a:rPr lang="en"/>
              <a:t>→ Decoder → x</a:t>
            </a:r>
            <a:r>
              <a:rPr baseline="-25000" lang="en"/>
              <a:t>i</a:t>
            </a:r>
            <a:endParaRPr baseline="-2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↑         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x</a:t>
            </a:r>
            <a:r>
              <a:rPr baseline="-25000" lang="en"/>
              <a:t>i-1</a:t>
            </a:r>
            <a:r>
              <a:rPr lang="en"/>
              <a:t> → z</a:t>
            </a:r>
            <a:r>
              <a:rPr baseline="-25000" lang="en"/>
              <a:t>i-1</a:t>
            </a:r>
            <a:r>
              <a:rPr lang="en"/>
              <a:t>                               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</a:t>
            </a:r>
            <a:endParaRPr/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716100" y="1190950"/>
            <a:ext cx="8116800" cy="37746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-38989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Token chunk ↔ vector</a:t>
            </a:r>
            <a:endParaRPr sz="25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x→z→x’</a:t>
            </a:r>
            <a:endParaRPr sz="1840"/>
          </a:p>
          <a:p>
            <a:pPr indent="-38989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Problem: brittle discrete representation</a:t>
            </a:r>
            <a:endParaRPr sz="25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Model brings noise; “inaccurate” decodings are meaningless</a:t>
            </a:r>
            <a:endParaRPr sz="1840"/>
          </a:p>
          <a:p>
            <a:pPr indent="-389890" lvl="0" marL="457200" rtl="0" algn="l">
              <a:spcBef>
                <a:spcPts val="120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Solution: Variational Autoencoder (VAE)</a:t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z ∼ N(μ,σ</a:t>
            </a:r>
            <a:r>
              <a:rPr baseline="30000" lang="en" sz="1840"/>
              <a:t>2</a:t>
            </a:r>
            <a:r>
              <a:rPr lang="en" sz="1840"/>
              <a:t>)</a:t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AutoEncoder: Loss</a:t>
            </a:r>
            <a:endParaRPr/>
          </a:p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" name="Google Shape;133;p19" title="Screen Shot 2026-04-08 at 01.59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650" y="1396125"/>
            <a:ext cx="2899150" cy="71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Screen Shot 2026-04-08 at 02.00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295" y="2184600"/>
            <a:ext cx="4503625" cy="77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 title="Screen Shot 2026-04-08 at 02.17.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647" y="2872475"/>
            <a:ext cx="5478182" cy="71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887100" y="3714700"/>
            <a:ext cx="73698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Tricks: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Preventing Posterior Collapse: Set minimal L</a:t>
            </a:r>
            <a:r>
              <a:rPr baseline="-25000"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KL </a:t>
            </a: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in each dimension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Dropout for Enhanced Robustness. 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Head (</a:t>
            </a:r>
            <a:r>
              <a:rPr lang="en"/>
              <a:t>Replaces Likelihood Sampling)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3" name="Google Shape;143;p20" title="Screen Shot 2026-04-08 at 02.29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400" y="1395225"/>
            <a:ext cx="6261772" cy="364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Head </a:t>
            </a:r>
            <a:endParaRPr/>
          </a:p>
        </p:txBody>
      </p:sp>
      <p:sp>
        <p:nvSpPr>
          <p:cNvPr id="149" name="Google Shape;149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0" name="Google Shape;150;p21" title="Screen Shot 2026-04-08 at 02.47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925" y="1341525"/>
            <a:ext cx="6152850" cy="6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 title="Screen Shot 2026-04-08 at 02.54.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5150" y="4170625"/>
            <a:ext cx="6894549" cy="79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716100" y="1190950"/>
            <a:ext cx="8116800" cy="37746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-38989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t/>
            </a:r>
            <a:endParaRPr sz="1840"/>
          </a:p>
          <a:p>
            <a:pPr indent="-38989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We want single-step generation for z</a:t>
            </a:r>
            <a:endParaRPr sz="1840"/>
          </a:p>
          <a:p>
            <a:pPr indent="-389890" lvl="0" marL="457200" rtl="0" algn="l"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Energy Score: Fidelity &amp; Diversity</a:t>
            </a:r>
            <a:endParaRPr sz="1840"/>
          </a:p>
          <a:p>
            <a:pPr indent="-389890" lvl="0" marL="457200" rtl="0" algn="l"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Monte Carlo</a:t>
            </a:r>
            <a:endParaRPr sz="254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N candidate samples</a:t>
            </a:r>
            <a:endParaRPr sz="184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M samples from “ground-truth” in autoencoder</a:t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4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for Temperature</a:t>
            </a:r>
            <a:endParaRPr/>
          </a:p>
        </p:txBody>
      </p:sp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9" name="Google Shape;159;p22" title="Screen Shot 2026-04-08 at 03.02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025" y="1291475"/>
            <a:ext cx="5146701" cy="38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CALM</a:t>
            </a:r>
            <a:endParaRPr/>
          </a:p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716100" y="1190950"/>
            <a:ext cx="8116800" cy="37746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-38989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No vector-level likelihood</a:t>
            </a:r>
            <a:endParaRPr sz="1840"/>
          </a:p>
          <a:p>
            <a:pPr indent="-389890" lvl="0" marL="457200" rtl="0" algn="l"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So metrics like perplexity are undefined</a:t>
            </a:r>
            <a:endParaRPr sz="1840"/>
          </a:p>
          <a:p>
            <a:pPr indent="-389890" lvl="0" marL="457200" rtl="0" algn="l"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Monte Carlo Again</a:t>
            </a:r>
            <a:endParaRPr sz="254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4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4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40"/>
          </a:p>
        </p:txBody>
      </p:sp>
      <p:pic>
        <p:nvPicPr>
          <p:cNvPr id="167" name="Google Shape;167;p23" title="Screen Shot 2026-04-08 at 02.59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525" y="2862152"/>
            <a:ext cx="7371950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Computational Cost of CALM</a:t>
            </a:r>
            <a:endParaRPr/>
          </a:p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" name="Google Shape;174;p24" title="Screen Shot 2026-04-08 at 03.08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163" y="1622075"/>
            <a:ext cx="8249675" cy="2892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Choice of Chunk Size</a:t>
            </a:r>
            <a:endParaRPr/>
          </a:p>
        </p:txBody>
      </p:sp>
      <p:sp>
        <p:nvSpPr>
          <p:cNvPr id="180" name="Google Shape;180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p25" title="Screen Shot 2026-04-08 at 03.10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750" y="1317400"/>
            <a:ext cx="6166750" cy="364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Training Progress</a:t>
            </a:r>
            <a:endParaRPr/>
          </a:p>
        </p:txBody>
      </p:sp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" name="Google Shape;188;p26" title="Screen Shot 2026-04-08 at 03.11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275" y="1326050"/>
            <a:ext cx="6331000" cy="37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Weight of “Normalization” in Encoder</a:t>
            </a:r>
            <a:endParaRPr/>
          </a:p>
        </p:txBody>
      </p:sp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" name="Google Shape;195;p27" title="Screen Shot 2026-04-08 at 03.13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063" y="1369275"/>
            <a:ext cx="6323864" cy="364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668075" y="65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Latent Dimension in Encoder</a:t>
            </a:r>
            <a:endParaRPr/>
          </a:p>
        </p:txBody>
      </p:sp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p28" title="Screen Shot 2026-04-08 at 03.18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725" y="1274200"/>
            <a:ext cx="6655248" cy="36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727650" y="65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 &amp; Limitations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2790500" y="4761175"/>
            <a:ext cx="638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716075" y="1369000"/>
            <a:ext cx="8116800" cy="34344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-38989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Strength: More efficient</a:t>
            </a:r>
            <a:endParaRPr sz="25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Fewer generation steps</a:t>
            </a:r>
            <a:endParaRPr sz="1840"/>
          </a:p>
          <a:p>
            <a:pPr indent="-38989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Limitations</a:t>
            </a:r>
            <a:endParaRPr sz="25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No Likelihood in generation</a:t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Evaluation Overhead (Monte Carlo)</a:t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40"/>
              <a:t>-  Loop-based Temperature Design has edge cases</a:t>
            </a:r>
            <a:endParaRPr sz="184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type="title"/>
          </p:nvPr>
        </p:nvSpPr>
        <p:spPr>
          <a:xfrm>
            <a:off x="727650" y="65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30"/>
          <p:cNvSpPr txBox="1"/>
          <p:nvPr/>
        </p:nvSpPr>
        <p:spPr>
          <a:xfrm>
            <a:off x="2790500" y="4761175"/>
            <a:ext cx="638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" name="Google Shape;218;p30"/>
          <p:cNvSpPr txBox="1"/>
          <p:nvPr>
            <p:ph idx="1" type="body"/>
          </p:nvPr>
        </p:nvSpPr>
        <p:spPr>
          <a:xfrm>
            <a:off x="716075" y="1369000"/>
            <a:ext cx="8116800" cy="34344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-38989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Stronger</a:t>
            </a:r>
            <a:r>
              <a:rPr lang="en" sz="2540"/>
              <a:t> Encoder</a:t>
            </a:r>
            <a:endParaRPr sz="25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Capture token relationships</a:t>
            </a:r>
            <a:endParaRPr sz="1840"/>
          </a:p>
          <a:p>
            <a:pPr indent="-38989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40"/>
              <a:buChar char="●"/>
            </a:pPr>
            <a:r>
              <a:rPr lang="en" sz="2540"/>
              <a:t>Support likelihood-base techniques</a:t>
            </a:r>
            <a:endParaRPr sz="25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RL</a:t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40"/>
              <a:t>-  Distillation</a:t>
            </a:r>
            <a:endParaRPr sz="184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40"/>
              <a:t>-  …</a:t>
            </a:r>
            <a:endParaRPr sz="18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